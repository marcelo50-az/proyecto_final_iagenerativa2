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6"/>
  </p:notesMasterIdLst>
  <p:sldIdLst>
    <p:sldId id="256" r:id="rId2"/>
    <p:sldId id="260" r:id="rId3"/>
    <p:sldId id="313" r:id="rId4"/>
    <p:sldId id="314" r:id="rId5"/>
    <p:sldId id="315" r:id="rId6"/>
    <p:sldId id="316" r:id="rId7"/>
    <p:sldId id="317" r:id="rId8"/>
    <p:sldId id="318" r:id="rId9"/>
    <p:sldId id="319" r:id="rId10"/>
    <p:sldId id="321" r:id="rId11"/>
    <p:sldId id="322" r:id="rId12"/>
    <p:sldId id="323" r:id="rId13"/>
    <p:sldId id="325" r:id="rId14"/>
    <p:sldId id="324" r:id="rId15"/>
  </p:sldIdLst>
  <p:sldSz cx="9144000" cy="5143500" type="screen16x9"/>
  <p:notesSz cx="6858000" cy="9144000"/>
  <p:embeddedFontLst>
    <p:embeddedFont>
      <p:font typeface="IBM Plex Mono" panose="020B0509050203000203" pitchFamily="49" charset="0"/>
      <p:regular r:id="rId17"/>
      <p:bold r:id="rId18"/>
      <p:italic r:id="rId19"/>
      <p:boldItalic r:id="rId20"/>
    </p:embeddedFont>
    <p:embeddedFont>
      <p:font typeface="Poppins" panose="000005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27E3F9D-824D-4463-AEB4-E72FC67F905A}">
  <a:tblStyle styleId="{527E3F9D-824D-4463-AEB4-E72FC67F90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5" d="100"/>
          <a:sy n="135" d="100"/>
        </p:scale>
        <p:origin x="76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E2A69CBA-320C-8EC8-A0DA-12B0F3E25D02}"/>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49D94AB8-8076-FBF7-4BCC-2DE453D2B4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8112C5AF-F257-3006-A49A-DF79B5AAFE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926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BD55D280-8FE6-218F-D0D3-D3859C8C2358}"/>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2AC94012-AC19-EB8C-90E7-C7E2E734C6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6DFBDC61-4F5C-1025-BA08-F3996BFC12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3401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8C03DF8F-7C18-74E7-A44A-559AAD7AC13C}"/>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0D2FFAF3-3C32-B725-CF66-2C455B0B05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1D154FA0-22F9-C8F1-F37B-FA4CEA6586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1401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3E35A132-826C-D217-5F12-2471750D2E07}"/>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F672A828-7E82-9976-E436-E04CB6DA61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AEB3E401-7293-EB3D-30AA-D1CB71D65D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8453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D80CA0B8-8408-F052-118C-2028095C776C}"/>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0FB89358-AE6F-F29F-019A-794AAC0230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5BAD4682-B384-ADA4-4E42-C40AA48004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6068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A56E38EF-4CB3-010F-8E55-9F87DC437E3F}"/>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B2740042-9A78-426B-E3D5-76FB50CAD1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821D314D-008F-D12E-5DC1-00EF17BE77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8360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B57CF523-BC82-EA51-F73B-4F781760DA03}"/>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0C0DA7B6-0B48-A915-FE67-49EC81FFD5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C28EC4BD-1E9A-7781-252F-8776909AB6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9643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17823C8E-EC41-F270-3D8E-DD301E5EFE7E}"/>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F977D840-7609-DE51-9823-9D27685629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E977856F-D2B4-9140-E0F5-97BCC8FBF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2339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F9761951-11F5-FF52-B9A0-EE3B4D78022F}"/>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1F5FD394-01B8-3FBB-3CB5-0E783EF724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C9A0E9E8-95BD-301B-C61D-B43EDFE5E8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2863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E038EF21-9918-480F-5B1B-860C192A7928}"/>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312F594A-BB54-F6DD-7539-6FC1132948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69BEEBF4-5610-D068-7514-2F3A0B54E5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79247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D1DF0C65-8EF7-CA1F-18F0-2B5B3BECC24B}"/>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46E69C93-CAAC-2A2B-BB7C-684F28D2D0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5080FC57-B93D-EBED-4E12-6D0F5380A6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7406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8A27D130-6C5B-129B-D401-A5B24CE18451}"/>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8594F98F-D67C-64BF-2D79-FC5AD4BF52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1756D080-76E9-A7F6-09AE-219E578441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94499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txBody>
            <a:bodyPr/>
            <a:lstStyle/>
            <a:p>
              <a:endParaRPr lang="es-PE"/>
            </a:p>
          </p:txBody>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9"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9"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9"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9"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9"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65" r:id="rId3"/>
    <p:sldLayoutId id="2147483676" r:id="rId4"/>
    <p:sldLayoutId id="214748367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9"/>
        <p:cNvGrpSpPr/>
        <p:nvPr/>
      </p:nvGrpSpPr>
      <p:grpSpPr>
        <a:xfrm>
          <a:off x="0" y="0"/>
          <a:ext cx="0" cy="0"/>
          <a:chOff x="0" y="0"/>
          <a:chExt cx="0" cy="0"/>
        </a:xfrm>
      </p:grpSpPr>
      <p:sp>
        <p:nvSpPr>
          <p:cNvPr id="1430" name="Google Shape;1430;p35"/>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Marcelo Alejandro Arrunategui Zeta</a:t>
            </a:r>
            <a:endParaRPr dirty="0"/>
          </a:p>
        </p:txBody>
      </p:sp>
      <p:sp>
        <p:nvSpPr>
          <p:cNvPr id="1431" name="Google Shape;1431;p35"/>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dk2"/>
                </a:solidFill>
              </a:rPr>
              <a:t>Foundation Models en</a:t>
            </a:r>
            <a:r>
              <a:rPr lang="en" dirty="0">
                <a:solidFill>
                  <a:schemeClr val="dk1"/>
                </a:solidFill>
              </a:rPr>
              <a:t> IA Generativa</a:t>
            </a:r>
            <a:endParaRPr dirty="0">
              <a:solidFill>
                <a:schemeClr val="dk1"/>
              </a:solidFill>
            </a:endParaRP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l"/>
            <a:r>
              <a:rPr lang="es-PE" dirty="0"/>
              <a:t>¿Qué es la técnica RAG?</a:t>
            </a:r>
            <a:endParaRPr dirty="0"/>
          </a:p>
        </p:txBody>
      </p:sp>
      <p:sp>
        <p:nvSpPr>
          <p:cNvPr id="1532" name="Google Shape;1532;p39"/>
          <p:cNvSpPr txBox="1">
            <a:spLocks noGrp="1"/>
          </p:cNvSpPr>
          <p:nvPr>
            <p:ph type="subTitle" idx="2"/>
          </p:nvPr>
        </p:nvSpPr>
        <p:spPr>
          <a:xfrm>
            <a:off x="720001" y="1033779"/>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RAG (</a:t>
            </a:r>
            <a:r>
              <a:rPr lang="es-PE" sz="1100" dirty="0" err="1"/>
              <a:t>Retrieval-Augmented</a:t>
            </a:r>
            <a:r>
              <a:rPr lang="es-PE" sz="1100" dirty="0"/>
              <a:t> </a:t>
            </a:r>
            <a:r>
              <a:rPr lang="es-PE" sz="1100" dirty="0" err="1"/>
              <a:t>Generation</a:t>
            </a:r>
            <a:r>
              <a:rPr lang="es-PE" sz="1100" dirty="0"/>
              <a:t>) es una técnica que combina dos procesos: la búsqueda de información relevante en una base documental (</a:t>
            </a:r>
            <a:r>
              <a:rPr lang="es-PE" sz="1100" dirty="0" err="1"/>
              <a:t>retrieval</a:t>
            </a:r>
            <a:r>
              <a:rPr lang="es-PE" sz="1100" dirty="0"/>
              <a:t>) y la generación de una respuesta con un modelo de lenguaje (</a:t>
            </a:r>
            <a:r>
              <a:rPr lang="es-PE" sz="1100" dirty="0" err="1"/>
              <a:t>generation</a:t>
            </a:r>
            <a:r>
              <a:rPr lang="es-PE" sz="1100" dirty="0"/>
              <a:t>).</a:t>
            </a:r>
          </a:p>
          <a:p>
            <a:pPr marL="0" lvl="0" indent="0" algn="just" rtl="0">
              <a:spcBef>
                <a:spcPts val="0"/>
              </a:spcBef>
              <a:spcAft>
                <a:spcPts val="0"/>
              </a:spcAft>
              <a:buNone/>
            </a:pPr>
            <a:r>
              <a:rPr lang="es-PE" sz="1100" dirty="0"/>
              <a:t>A diferencia de un LLM tradicional, RAG no responde solo con lo que “recuerda” de su entrenamiento, sino que primero recupera fragmentos del documento más relacionados con la consulta del usuario. Luego, con ese contexto, genera una respuesta más precisa, fundamentada y con menor riesgo de alucinaciones.</a:t>
            </a:r>
          </a:p>
          <a:p>
            <a:pPr marL="0" lvl="0" indent="0" algn="just" rtl="0">
              <a:spcBef>
                <a:spcPts val="0"/>
              </a:spcBef>
              <a:spcAft>
                <a:spcPts val="0"/>
              </a:spcAft>
              <a:buNone/>
            </a:pPr>
            <a:r>
              <a:rPr lang="es-PE" sz="1100" dirty="0"/>
              <a:t>Esta técnica es útil en tareas como búsqueda sobre documentos PDF, asistentes corporativos, análisis normativo y sistemas de preguntas y respuestas.</a:t>
            </a:r>
            <a:endParaRPr lang="es-MX" sz="1100" dirty="0"/>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Imagen 2">
            <a:extLst>
              <a:ext uri="{FF2B5EF4-FFF2-40B4-BE49-F238E27FC236}">
                <a16:creationId xmlns:a16="http://schemas.microsoft.com/office/drawing/2014/main" id="{097AD160-F14F-4B4B-EB49-377904082699}"/>
              </a:ext>
            </a:extLst>
          </p:cNvPr>
          <p:cNvPicPr>
            <a:picLocks noChangeAspect="1"/>
          </p:cNvPicPr>
          <p:nvPr/>
        </p:nvPicPr>
        <p:blipFill>
          <a:blip r:embed="rId3"/>
          <a:stretch>
            <a:fillRect/>
          </a:stretch>
        </p:blipFill>
        <p:spPr>
          <a:xfrm>
            <a:off x="205965" y="3023725"/>
            <a:ext cx="8732069" cy="11820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1D8AF3B9-0310-94C2-9569-6439A81AA640}"/>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916A2632-D28D-16D5-3C60-F89FB2B62FA5}"/>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dirty="0"/>
              <a:t>Objetivo del sistema implementado</a:t>
            </a:r>
            <a:endParaRPr dirty="0"/>
          </a:p>
        </p:txBody>
      </p:sp>
      <p:sp>
        <p:nvSpPr>
          <p:cNvPr id="1532" name="Google Shape;1532;p39">
            <a:extLst>
              <a:ext uri="{FF2B5EF4-FFF2-40B4-BE49-F238E27FC236}">
                <a16:creationId xmlns:a16="http://schemas.microsoft.com/office/drawing/2014/main" id="{E45EE67F-2E64-EA42-690B-1C219C795EA1}"/>
              </a:ext>
            </a:extLst>
          </p:cNvPr>
          <p:cNvSpPr txBox="1">
            <a:spLocks noGrp="1"/>
          </p:cNvSpPr>
          <p:nvPr>
            <p:ph type="subTitle" idx="2"/>
          </p:nvPr>
        </p:nvSpPr>
        <p:spPr>
          <a:xfrm>
            <a:off x="720001" y="1033779"/>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El objetivo del notebook es implementar un sistema RAG capaz de responder preguntas sobre un documento PDF. Para ello, el sistema extrae el texto del archivo, lo divide en fragmentos, genera </a:t>
            </a:r>
            <a:r>
              <a:rPr lang="es-PE" sz="1100" dirty="0" err="1"/>
              <a:t>embeddings</a:t>
            </a:r>
            <a:r>
              <a:rPr lang="es-PE" sz="1100" dirty="0"/>
              <a:t>, indexa esos </a:t>
            </a:r>
            <a:r>
              <a:rPr lang="es-PE" sz="1100" dirty="0" err="1"/>
              <a:t>embeddings</a:t>
            </a:r>
            <a:r>
              <a:rPr lang="es-PE" sz="1100" dirty="0"/>
              <a:t> con FAISS, recupera los fragmentos más relevantes para una consulta, los reordena con un </a:t>
            </a:r>
            <a:r>
              <a:rPr lang="es-PE" sz="1100" dirty="0" err="1"/>
              <a:t>reranker</a:t>
            </a:r>
            <a:r>
              <a:rPr lang="es-PE" sz="1100" dirty="0"/>
              <a:t> y finalmente genera una respuesta con </a:t>
            </a:r>
            <a:r>
              <a:rPr lang="es-PE" sz="1100" dirty="0" err="1"/>
              <a:t>Qwen</a:t>
            </a:r>
            <a:r>
              <a:rPr lang="es-PE" sz="1100" dirty="0"/>
              <a:t>.</a:t>
            </a:r>
          </a:p>
          <a:p>
            <a:pPr marL="0" lvl="0" indent="0" algn="just" rtl="0">
              <a:spcBef>
                <a:spcPts val="0"/>
              </a:spcBef>
              <a:spcAft>
                <a:spcPts val="0"/>
              </a:spcAft>
              <a:buNone/>
            </a:pPr>
            <a:endParaRPr lang="es-PE" sz="1100" dirty="0"/>
          </a:p>
          <a:p>
            <a:pPr marL="0" lvl="0" indent="0" algn="just" rtl="0">
              <a:spcBef>
                <a:spcPts val="0"/>
              </a:spcBef>
              <a:spcAft>
                <a:spcPts val="0"/>
              </a:spcAft>
              <a:buNone/>
            </a:pPr>
            <a:r>
              <a:rPr lang="es-PE" sz="1100" dirty="0"/>
              <a:t>Además, el sistema incorpora mecanismos de soporte documental y evaluación, como citas por oración, detección básica de alucinaciones y métricas de </a:t>
            </a:r>
            <a:r>
              <a:rPr lang="es-PE" sz="1100" dirty="0" err="1"/>
              <a:t>grounding</a:t>
            </a:r>
            <a:r>
              <a:rPr lang="es-PE" sz="1100" dirty="0"/>
              <a:t> y ROUGE.</a:t>
            </a:r>
            <a:endParaRPr lang="es-MX" sz="1100" dirty="0"/>
          </a:p>
        </p:txBody>
      </p:sp>
      <p:grpSp>
        <p:nvGrpSpPr>
          <p:cNvPr id="1533" name="Google Shape;1533;p39">
            <a:extLst>
              <a:ext uri="{FF2B5EF4-FFF2-40B4-BE49-F238E27FC236}">
                <a16:creationId xmlns:a16="http://schemas.microsoft.com/office/drawing/2014/main" id="{1A26D358-16A7-A275-5F0E-E8ADFDBDA9EB}"/>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1D542C98-9215-56AB-C420-63DAF65CE2E8}"/>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68A0D99C-27C9-B193-0ED4-48E0A5FD7EA7}"/>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E965A108-1AB6-DC93-B255-9DD364FF5242}"/>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0EDA93B7-8D8D-BCEB-4654-E05289DF9BD0}"/>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ED5286BE-D113-9B6E-083B-96857B7C6A96}"/>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016108BA-890D-1498-F0F6-16D9ED5E75D1}"/>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E04B9872-3DC2-E5F5-86A1-B7F6962A1A5D}"/>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Imagen 3">
            <a:extLst>
              <a:ext uri="{FF2B5EF4-FFF2-40B4-BE49-F238E27FC236}">
                <a16:creationId xmlns:a16="http://schemas.microsoft.com/office/drawing/2014/main" id="{59E31628-E818-4FA7-02F6-1E78ECD5E6F3}"/>
              </a:ext>
            </a:extLst>
          </p:cNvPr>
          <p:cNvPicPr>
            <a:picLocks noChangeAspect="1"/>
          </p:cNvPicPr>
          <p:nvPr/>
        </p:nvPicPr>
        <p:blipFill>
          <a:blip r:embed="rId3"/>
          <a:stretch>
            <a:fillRect/>
          </a:stretch>
        </p:blipFill>
        <p:spPr>
          <a:xfrm>
            <a:off x="363717" y="2683342"/>
            <a:ext cx="8735122" cy="411815"/>
          </a:xfrm>
          <a:prstGeom prst="rect">
            <a:avLst/>
          </a:prstGeom>
        </p:spPr>
      </p:pic>
    </p:spTree>
    <p:extLst>
      <p:ext uri="{BB962C8B-B14F-4D97-AF65-F5344CB8AC3E}">
        <p14:creationId xmlns:p14="http://schemas.microsoft.com/office/powerpoint/2010/main" val="3004946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14755D01-CE16-61CA-CE14-B229CD2B060F}"/>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033FEE14-034E-89D8-C57E-9442F1340F7E}"/>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dirty="0"/>
              <a:t>Carga del documento PDF</a:t>
            </a:r>
            <a:endParaRPr dirty="0"/>
          </a:p>
        </p:txBody>
      </p:sp>
      <p:sp>
        <p:nvSpPr>
          <p:cNvPr id="1532" name="Google Shape;1532;p39">
            <a:extLst>
              <a:ext uri="{FF2B5EF4-FFF2-40B4-BE49-F238E27FC236}">
                <a16:creationId xmlns:a16="http://schemas.microsoft.com/office/drawing/2014/main" id="{DCFC2C1F-A7A6-EEE1-759D-640B528C1B07}"/>
              </a:ext>
            </a:extLst>
          </p:cNvPr>
          <p:cNvSpPr txBox="1">
            <a:spLocks noGrp="1"/>
          </p:cNvSpPr>
          <p:nvPr>
            <p:ph type="subTitle" idx="2"/>
          </p:nvPr>
        </p:nvSpPr>
        <p:spPr>
          <a:xfrm>
            <a:off x="720001" y="1033779"/>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La primera etapa consiste en cargar el documento PDF y convertir su contenido en texto plano. Para ello se utiliza la librería PyPDF2, recorriendo cada página y concatenando su contenido en una sola variable de texto. </a:t>
            </a:r>
          </a:p>
          <a:p>
            <a:pPr marL="0" lvl="0" indent="0" algn="just" rtl="0">
              <a:spcBef>
                <a:spcPts val="0"/>
              </a:spcBef>
              <a:spcAft>
                <a:spcPts val="0"/>
              </a:spcAft>
              <a:buNone/>
            </a:pPr>
            <a:endParaRPr lang="es-PE" sz="1100" dirty="0"/>
          </a:p>
          <a:p>
            <a:pPr marL="0" lvl="0" indent="0" algn="just" rtl="0">
              <a:spcBef>
                <a:spcPts val="0"/>
              </a:spcBef>
              <a:spcAft>
                <a:spcPts val="0"/>
              </a:spcAft>
              <a:buNone/>
            </a:pPr>
            <a:r>
              <a:rPr lang="es-PE" sz="1100" dirty="0"/>
              <a:t>Esta etapa es clave porque el sistema RAG no trabaja directamente con el PDF original, sino con el texto extraído, que luego será fragmentado y transformado en </a:t>
            </a:r>
            <a:r>
              <a:rPr lang="es-PE" sz="1100" dirty="0" err="1"/>
              <a:t>embeddings</a:t>
            </a:r>
            <a:r>
              <a:rPr lang="es-PE" sz="1100" dirty="0"/>
              <a:t>.</a:t>
            </a:r>
            <a:endParaRPr lang="es-MX" sz="1100" dirty="0"/>
          </a:p>
        </p:txBody>
      </p:sp>
      <p:grpSp>
        <p:nvGrpSpPr>
          <p:cNvPr id="1533" name="Google Shape;1533;p39">
            <a:extLst>
              <a:ext uri="{FF2B5EF4-FFF2-40B4-BE49-F238E27FC236}">
                <a16:creationId xmlns:a16="http://schemas.microsoft.com/office/drawing/2014/main" id="{B6E31DD9-A2B8-93CD-A4E8-BD400368C105}"/>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85F0020B-B5F3-D47B-C0C2-960294EAA070}"/>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1D6141B8-98AD-B413-2D64-7DBA110A1F04}"/>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F5A5F427-9A4C-AC84-2A84-1849ED9FE82B}"/>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9547BAEE-4313-61FE-780D-DA7329B14273}"/>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8095E8F6-B3C8-EDBD-29AE-0DF0363A190F}"/>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B4F5DB4C-B495-D84B-8D8E-52396CD1BAD7}"/>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1192DC18-00AF-D6D5-922C-3E209C095FFB}"/>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Imagen 2">
            <a:extLst>
              <a:ext uri="{FF2B5EF4-FFF2-40B4-BE49-F238E27FC236}">
                <a16:creationId xmlns:a16="http://schemas.microsoft.com/office/drawing/2014/main" id="{7FA776BB-70C6-5C2D-C290-46A4072F7AB5}"/>
              </a:ext>
            </a:extLst>
          </p:cNvPr>
          <p:cNvPicPr>
            <a:picLocks noChangeAspect="1"/>
          </p:cNvPicPr>
          <p:nvPr/>
        </p:nvPicPr>
        <p:blipFill>
          <a:blip r:embed="rId3"/>
          <a:stretch>
            <a:fillRect/>
          </a:stretch>
        </p:blipFill>
        <p:spPr>
          <a:xfrm>
            <a:off x="1720038" y="2285629"/>
            <a:ext cx="5430008" cy="1848108"/>
          </a:xfrm>
          <a:prstGeom prst="rect">
            <a:avLst/>
          </a:prstGeom>
        </p:spPr>
      </p:pic>
    </p:spTree>
    <p:extLst>
      <p:ext uri="{BB962C8B-B14F-4D97-AF65-F5344CB8AC3E}">
        <p14:creationId xmlns:p14="http://schemas.microsoft.com/office/powerpoint/2010/main" val="3348356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9E60A9F8-B82D-EC58-273E-1964FE53650B}"/>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AC4B072E-1B53-761D-7368-EB68415A0665}"/>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dirty="0"/>
              <a:t>División del texto en fragmentos</a:t>
            </a:r>
            <a:endParaRPr dirty="0"/>
          </a:p>
        </p:txBody>
      </p:sp>
      <p:sp>
        <p:nvSpPr>
          <p:cNvPr id="1532" name="Google Shape;1532;p39">
            <a:extLst>
              <a:ext uri="{FF2B5EF4-FFF2-40B4-BE49-F238E27FC236}">
                <a16:creationId xmlns:a16="http://schemas.microsoft.com/office/drawing/2014/main" id="{5FB179E6-C807-59CF-9ADD-E732324B2700}"/>
              </a:ext>
            </a:extLst>
          </p:cNvPr>
          <p:cNvSpPr txBox="1">
            <a:spLocks noGrp="1"/>
          </p:cNvSpPr>
          <p:nvPr>
            <p:ph type="subTitle" idx="2"/>
          </p:nvPr>
        </p:nvSpPr>
        <p:spPr>
          <a:xfrm>
            <a:off x="720001" y="1033779"/>
            <a:ext cx="8218033" cy="18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PE" sz="1100" dirty="0"/>
              <a:t>Luego del preprocesamiento, el texto se divide en fragmentos o </a:t>
            </a:r>
            <a:r>
              <a:rPr lang="es-PE" sz="1100" dirty="0" err="1"/>
              <a:t>chunks</a:t>
            </a:r>
            <a:r>
              <a:rPr lang="es-PE" sz="1100" dirty="0"/>
              <a:t>. En este caso se definió un tamaño de 400 caracteres y un </a:t>
            </a:r>
            <a:r>
              <a:rPr lang="es-PE" sz="1100" dirty="0" err="1"/>
              <a:t>overlap</a:t>
            </a:r>
            <a:r>
              <a:rPr lang="es-PE" sz="1100" dirty="0"/>
              <a:t> de 100, con el objetivo de preservar continuidad semántica entre fragmentos consecutivos. </a:t>
            </a:r>
          </a:p>
          <a:p>
            <a:pPr marL="0" lvl="0" indent="0" algn="l" rtl="0">
              <a:spcBef>
                <a:spcPts val="0"/>
              </a:spcBef>
              <a:spcAft>
                <a:spcPts val="0"/>
              </a:spcAft>
              <a:buNone/>
            </a:pPr>
            <a:endParaRPr lang="es-PE" sz="1100" dirty="0"/>
          </a:p>
          <a:p>
            <a:pPr marL="0" lvl="0" indent="0" algn="l" rtl="0">
              <a:spcBef>
                <a:spcPts val="0"/>
              </a:spcBef>
              <a:spcAft>
                <a:spcPts val="0"/>
              </a:spcAft>
              <a:buNone/>
            </a:pPr>
            <a:r>
              <a:rPr lang="es-PE" sz="1100" dirty="0"/>
              <a:t>El uso de </a:t>
            </a:r>
            <a:r>
              <a:rPr lang="es-PE" sz="1100" dirty="0" err="1"/>
              <a:t>overlap</a:t>
            </a:r>
            <a:r>
              <a:rPr lang="es-PE" sz="1100" dirty="0"/>
              <a:t> mejora la recuperación porque evita que información importante quede cortada entre un </a:t>
            </a:r>
            <a:r>
              <a:rPr lang="es-PE" sz="1100" dirty="0" err="1"/>
              <a:t>chunk</a:t>
            </a:r>
            <a:r>
              <a:rPr lang="es-PE" sz="1100" dirty="0"/>
              <a:t> y otro. De esta manera, el sistema obtiene una base textual más adecuada para búsqueda semántica.</a:t>
            </a:r>
            <a:endParaRPr lang="es-MX" sz="1100" dirty="0"/>
          </a:p>
        </p:txBody>
      </p:sp>
      <p:grpSp>
        <p:nvGrpSpPr>
          <p:cNvPr id="1533" name="Google Shape;1533;p39">
            <a:extLst>
              <a:ext uri="{FF2B5EF4-FFF2-40B4-BE49-F238E27FC236}">
                <a16:creationId xmlns:a16="http://schemas.microsoft.com/office/drawing/2014/main" id="{A8BEE369-6527-DBE3-3371-6A2EE4C2A514}"/>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6B4655E0-4735-A5F8-943E-2D80FBB4762F}"/>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0B6D9B80-BF33-B930-9CE2-F7A82B1A0FB3}"/>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E6EF5659-9418-CFF8-A41F-7E202B3E3EE0}"/>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CF07279B-849C-E79F-8121-A6EB7A47F20C}"/>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78F89B1D-4CEF-A3B3-5445-B3D37374D0AA}"/>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BF68D603-555D-A95B-88D1-458B1DB83C87}"/>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5CA82E1B-470B-0093-E094-7D0701B9B998}"/>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8" name="Imagen 7">
            <a:extLst>
              <a:ext uri="{FF2B5EF4-FFF2-40B4-BE49-F238E27FC236}">
                <a16:creationId xmlns:a16="http://schemas.microsoft.com/office/drawing/2014/main" id="{93518F04-8CAC-B1E3-E03B-1AE1B52956EF}"/>
              </a:ext>
            </a:extLst>
          </p:cNvPr>
          <p:cNvPicPr>
            <a:picLocks noChangeAspect="1"/>
          </p:cNvPicPr>
          <p:nvPr/>
        </p:nvPicPr>
        <p:blipFill>
          <a:blip r:embed="rId3"/>
          <a:stretch>
            <a:fillRect/>
          </a:stretch>
        </p:blipFill>
        <p:spPr>
          <a:xfrm>
            <a:off x="2307789" y="2456348"/>
            <a:ext cx="4854670" cy="1923128"/>
          </a:xfrm>
          <a:prstGeom prst="rect">
            <a:avLst/>
          </a:prstGeom>
        </p:spPr>
      </p:pic>
    </p:spTree>
    <p:extLst>
      <p:ext uri="{BB962C8B-B14F-4D97-AF65-F5344CB8AC3E}">
        <p14:creationId xmlns:p14="http://schemas.microsoft.com/office/powerpoint/2010/main" val="3066744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A3897CAA-838B-E468-B39A-1D55FE159132}"/>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A2FD9F2B-58E9-10F9-F779-E49EC190A37C}"/>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dirty="0"/>
              <a:t>Conversión de </a:t>
            </a:r>
            <a:r>
              <a:rPr lang="es-PE" dirty="0" err="1"/>
              <a:t>chunks</a:t>
            </a:r>
            <a:r>
              <a:rPr lang="es-PE" dirty="0"/>
              <a:t> a </a:t>
            </a:r>
            <a:r>
              <a:rPr lang="es-PE" dirty="0" err="1"/>
              <a:t>embeddings</a:t>
            </a:r>
            <a:endParaRPr dirty="0"/>
          </a:p>
        </p:txBody>
      </p:sp>
      <p:sp>
        <p:nvSpPr>
          <p:cNvPr id="1532" name="Google Shape;1532;p39">
            <a:extLst>
              <a:ext uri="{FF2B5EF4-FFF2-40B4-BE49-F238E27FC236}">
                <a16:creationId xmlns:a16="http://schemas.microsoft.com/office/drawing/2014/main" id="{30F5ABA9-1584-FFBB-5FC2-2F68FEC7330D}"/>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Después, cada </a:t>
            </a:r>
            <a:r>
              <a:rPr lang="es-PE" sz="1100" dirty="0" err="1"/>
              <a:t>chunk</a:t>
            </a:r>
            <a:r>
              <a:rPr lang="es-PE" sz="1100" dirty="0"/>
              <a:t> se transforma en un vector numérico mediante el modelo all-MiniLM-L6-v2 de </a:t>
            </a:r>
            <a:r>
              <a:rPr lang="es-PE" sz="1100" dirty="0" err="1"/>
              <a:t>Sentence</a:t>
            </a:r>
            <a:r>
              <a:rPr lang="es-PE" sz="1100" dirty="0"/>
              <a:t> Transformers. Estos </a:t>
            </a:r>
            <a:r>
              <a:rPr lang="es-PE" sz="1100" dirty="0" err="1"/>
              <a:t>embeddings</a:t>
            </a:r>
            <a:r>
              <a:rPr lang="es-PE" sz="1100" dirty="0"/>
              <a:t> permiten representar el significado semántico de cada fragmento en un espacio vectorial.</a:t>
            </a:r>
          </a:p>
          <a:p>
            <a:pPr marL="0" lvl="0" indent="0" algn="just" rtl="0">
              <a:spcBef>
                <a:spcPts val="0"/>
              </a:spcBef>
              <a:spcAft>
                <a:spcPts val="0"/>
              </a:spcAft>
              <a:buNone/>
            </a:pPr>
            <a:endParaRPr lang="es-PE" sz="1100" dirty="0"/>
          </a:p>
          <a:p>
            <a:pPr marL="0" lvl="0" indent="0" algn="just" rtl="0">
              <a:spcBef>
                <a:spcPts val="0"/>
              </a:spcBef>
              <a:spcAft>
                <a:spcPts val="0"/>
              </a:spcAft>
              <a:buNone/>
            </a:pPr>
            <a:r>
              <a:rPr lang="es-PE" sz="1100" dirty="0"/>
              <a:t>Gracias a ello, las consultas del usuario también pueden convertirse en vectores y compararse matemáticamente con los </a:t>
            </a:r>
            <a:r>
              <a:rPr lang="es-PE" sz="1100" dirty="0" err="1"/>
              <a:t>chunks</a:t>
            </a:r>
            <a:r>
              <a:rPr lang="es-PE" sz="1100" dirty="0"/>
              <a:t> para encontrar los más relevantes, incluso cuando no comparten exactamente las mismas palabras.</a:t>
            </a:r>
            <a:endParaRPr lang="es-MX" sz="1100" dirty="0"/>
          </a:p>
        </p:txBody>
      </p:sp>
      <p:grpSp>
        <p:nvGrpSpPr>
          <p:cNvPr id="1533" name="Google Shape;1533;p39">
            <a:extLst>
              <a:ext uri="{FF2B5EF4-FFF2-40B4-BE49-F238E27FC236}">
                <a16:creationId xmlns:a16="http://schemas.microsoft.com/office/drawing/2014/main" id="{72C4DE30-5E00-9121-6A0C-AC960EB1FBE2}"/>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F89C8062-7E90-C766-3FFA-F6D1088B7D8E}"/>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8D9B6DDB-7619-6035-D92A-4F49E18AB266}"/>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EE753457-2E4A-8A39-A0B1-99345DA0DB60}"/>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24F1DB24-E11F-26CE-13B3-6A034AC50DEA}"/>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6B7E646C-109F-1300-56AA-82201C18C061}"/>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C04A18EA-C2FB-E7EC-FF6B-A402833746F1}"/>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2AF1B3ED-3948-450F-3D00-B99EBC7CA26A}"/>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Imagen 2">
            <a:extLst>
              <a:ext uri="{FF2B5EF4-FFF2-40B4-BE49-F238E27FC236}">
                <a16:creationId xmlns:a16="http://schemas.microsoft.com/office/drawing/2014/main" id="{DD1D426D-252E-B1B0-EB8B-75068B9FC8D2}"/>
              </a:ext>
            </a:extLst>
          </p:cNvPr>
          <p:cNvPicPr>
            <a:picLocks noChangeAspect="1"/>
          </p:cNvPicPr>
          <p:nvPr/>
        </p:nvPicPr>
        <p:blipFill>
          <a:blip r:embed="rId3"/>
          <a:stretch>
            <a:fillRect/>
          </a:stretch>
        </p:blipFill>
        <p:spPr>
          <a:xfrm>
            <a:off x="2340600" y="2709467"/>
            <a:ext cx="4462800" cy="915035"/>
          </a:xfrm>
          <a:prstGeom prst="rect">
            <a:avLst/>
          </a:prstGeom>
        </p:spPr>
      </p:pic>
      <p:sp>
        <p:nvSpPr>
          <p:cNvPr id="5" name="CuadroTexto 4">
            <a:extLst>
              <a:ext uri="{FF2B5EF4-FFF2-40B4-BE49-F238E27FC236}">
                <a16:creationId xmlns:a16="http://schemas.microsoft.com/office/drawing/2014/main" id="{77314348-13C6-5109-02A2-460259A3EDFF}"/>
              </a:ext>
            </a:extLst>
          </p:cNvPr>
          <p:cNvSpPr txBox="1"/>
          <p:nvPr/>
        </p:nvSpPr>
        <p:spPr>
          <a:xfrm>
            <a:off x="2307789" y="3762022"/>
            <a:ext cx="5519852" cy="307777"/>
          </a:xfrm>
          <a:prstGeom prst="rect">
            <a:avLst/>
          </a:prstGeom>
          <a:noFill/>
        </p:spPr>
        <p:txBody>
          <a:bodyPr wrap="square">
            <a:spAutoFit/>
          </a:bodyPr>
          <a:lstStyle/>
          <a:p>
            <a:r>
              <a:rPr lang="es-PE" dirty="0"/>
              <a:t>cada </a:t>
            </a:r>
            <a:r>
              <a:rPr lang="es-PE" dirty="0" err="1"/>
              <a:t>chunk</a:t>
            </a:r>
            <a:r>
              <a:rPr lang="es-PE" dirty="0"/>
              <a:t> se convierte en un vector</a:t>
            </a:r>
          </a:p>
        </p:txBody>
      </p:sp>
    </p:spTree>
    <p:extLst>
      <p:ext uri="{BB962C8B-B14F-4D97-AF65-F5344CB8AC3E}">
        <p14:creationId xmlns:p14="http://schemas.microsoft.com/office/powerpoint/2010/main" val="805470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4C704F38-EAE6-4BAB-1229-55344D46D52C}"/>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D700BFBA-D99E-AC08-E4E2-D24EC311EC01}"/>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dirty="0"/>
              <a:t>Indexación con FAISS HNSW</a:t>
            </a:r>
            <a:endParaRPr dirty="0"/>
          </a:p>
        </p:txBody>
      </p:sp>
      <p:sp>
        <p:nvSpPr>
          <p:cNvPr id="1532" name="Google Shape;1532;p39">
            <a:extLst>
              <a:ext uri="{FF2B5EF4-FFF2-40B4-BE49-F238E27FC236}">
                <a16:creationId xmlns:a16="http://schemas.microsoft.com/office/drawing/2014/main" id="{A1D5602D-6996-DD78-4D7C-F3D3A0006469}"/>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Una vez generados los </a:t>
            </a:r>
            <a:r>
              <a:rPr lang="es-PE" sz="1100" dirty="0" err="1"/>
              <a:t>embeddings</a:t>
            </a:r>
            <a:r>
              <a:rPr lang="es-PE" sz="1100" dirty="0"/>
              <a:t>, se construye un índice vectorial con FAISS, utilizando la estructura HNSW. Esta técnica permite realizar búsquedas aproximadas de vecinos cercanos de forma eficiente, incluso cuando existen muchos fragmentos.</a:t>
            </a:r>
          </a:p>
          <a:p>
            <a:pPr marL="0" lvl="0" indent="0" algn="just" rtl="0">
              <a:spcBef>
                <a:spcPts val="0"/>
              </a:spcBef>
              <a:spcAft>
                <a:spcPts val="0"/>
              </a:spcAft>
              <a:buNone/>
            </a:pPr>
            <a:endParaRPr lang="es-PE" sz="400" dirty="0"/>
          </a:p>
          <a:p>
            <a:pPr marL="0" lvl="0" indent="0" algn="just" rtl="0">
              <a:spcBef>
                <a:spcPts val="0"/>
              </a:spcBef>
              <a:spcAft>
                <a:spcPts val="0"/>
              </a:spcAft>
              <a:buNone/>
            </a:pPr>
            <a:r>
              <a:rPr lang="es-PE" sz="1100" dirty="0"/>
              <a:t>La función del índice es acelerar el </a:t>
            </a:r>
            <a:r>
              <a:rPr lang="es-PE" sz="1100" dirty="0" err="1"/>
              <a:t>retrieval</a:t>
            </a:r>
            <a:r>
              <a:rPr lang="es-PE" sz="1100" dirty="0"/>
              <a:t>, haciendo posible que la consulta encuentre rápidamente los </a:t>
            </a:r>
            <a:r>
              <a:rPr lang="es-PE" sz="1100" dirty="0" err="1"/>
              <a:t>chunks</a:t>
            </a:r>
            <a:r>
              <a:rPr lang="es-PE" sz="1100" dirty="0"/>
              <a:t> más relacionados dentro del espacio vectorial.</a:t>
            </a:r>
            <a:endParaRPr lang="es-MX" sz="1100" dirty="0"/>
          </a:p>
        </p:txBody>
      </p:sp>
      <p:grpSp>
        <p:nvGrpSpPr>
          <p:cNvPr id="1533" name="Google Shape;1533;p39">
            <a:extLst>
              <a:ext uri="{FF2B5EF4-FFF2-40B4-BE49-F238E27FC236}">
                <a16:creationId xmlns:a16="http://schemas.microsoft.com/office/drawing/2014/main" id="{D689B86A-D8EC-805F-D4D6-26C502684CB8}"/>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FB079FA5-A165-AEAE-EE91-2502E5AFE49D}"/>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E112E5DD-3A08-255E-B7F5-69F77724719E}"/>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B6E8E4FF-94A4-D706-C097-C49DA5135B5F}"/>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0643E66E-75A4-F4F4-9FF1-5D58B82EBE39}"/>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8BEF01FA-8BE1-86FF-6C08-C5914AB24B24}"/>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ABDFDAC1-E95B-738B-C401-9EB2D6B84445}"/>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05A8779C-A544-3925-8EEA-74E654106799}"/>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Imagen 3">
            <a:extLst>
              <a:ext uri="{FF2B5EF4-FFF2-40B4-BE49-F238E27FC236}">
                <a16:creationId xmlns:a16="http://schemas.microsoft.com/office/drawing/2014/main" id="{1AFD79C5-0107-3A30-8991-8211146E1D07}"/>
              </a:ext>
            </a:extLst>
          </p:cNvPr>
          <p:cNvPicPr>
            <a:picLocks noChangeAspect="1"/>
          </p:cNvPicPr>
          <p:nvPr/>
        </p:nvPicPr>
        <p:blipFill>
          <a:blip r:embed="rId3"/>
          <a:stretch>
            <a:fillRect/>
          </a:stretch>
        </p:blipFill>
        <p:spPr>
          <a:xfrm>
            <a:off x="870924" y="2286679"/>
            <a:ext cx="3696216" cy="1524213"/>
          </a:xfrm>
          <a:prstGeom prst="rect">
            <a:avLst/>
          </a:prstGeom>
        </p:spPr>
      </p:pic>
      <p:pic>
        <p:nvPicPr>
          <p:cNvPr id="7" name="Imagen 6">
            <a:extLst>
              <a:ext uri="{FF2B5EF4-FFF2-40B4-BE49-F238E27FC236}">
                <a16:creationId xmlns:a16="http://schemas.microsoft.com/office/drawing/2014/main" id="{BD669F41-6AC7-F575-7628-42F07899CAF6}"/>
              </a:ext>
            </a:extLst>
          </p:cNvPr>
          <p:cNvPicPr>
            <a:picLocks noChangeAspect="1"/>
          </p:cNvPicPr>
          <p:nvPr/>
        </p:nvPicPr>
        <p:blipFill>
          <a:blip r:embed="rId4"/>
          <a:stretch>
            <a:fillRect/>
          </a:stretch>
        </p:blipFill>
        <p:spPr>
          <a:xfrm>
            <a:off x="875784" y="4036122"/>
            <a:ext cx="7449015" cy="700207"/>
          </a:xfrm>
          <a:prstGeom prst="rect">
            <a:avLst/>
          </a:prstGeom>
        </p:spPr>
      </p:pic>
    </p:spTree>
    <p:extLst>
      <p:ext uri="{BB962C8B-B14F-4D97-AF65-F5344CB8AC3E}">
        <p14:creationId xmlns:p14="http://schemas.microsoft.com/office/powerpoint/2010/main" val="1401617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1D44F5FC-2D4D-1207-79D7-392C2F5B8BC6}"/>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F4965070-F6B2-A6BA-D3A8-9E7F532D086F}"/>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dirty="0"/>
              <a:t>Recuperación de contexto relevante</a:t>
            </a:r>
            <a:endParaRPr dirty="0"/>
          </a:p>
        </p:txBody>
      </p:sp>
      <p:sp>
        <p:nvSpPr>
          <p:cNvPr id="1532" name="Google Shape;1532;p39">
            <a:extLst>
              <a:ext uri="{FF2B5EF4-FFF2-40B4-BE49-F238E27FC236}">
                <a16:creationId xmlns:a16="http://schemas.microsoft.com/office/drawing/2014/main" id="{8DAA2E05-C9F1-2106-4832-35063A486688}"/>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En esta etapa, la consulta del usuario se transforma también en </a:t>
            </a:r>
            <a:r>
              <a:rPr lang="es-PE" sz="1100" dirty="0" err="1"/>
              <a:t>embedding</a:t>
            </a:r>
            <a:r>
              <a:rPr lang="es-PE" sz="1100" dirty="0"/>
              <a:t> y se compara contra el índice FAISS para recuperar los fragmentos más cercanos. En el notebook, la función </a:t>
            </a:r>
            <a:r>
              <a:rPr lang="es-PE" sz="1100" dirty="0" err="1"/>
              <a:t>retrieve</a:t>
            </a:r>
            <a:r>
              <a:rPr lang="es-PE" sz="1100" dirty="0"/>
              <a:t>() devuelve los top-k </a:t>
            </a:r>
            <a:r>
              <a:rPr lang="es-PE" sz="1100" dirty="0" err="1"/>
              <a:t>chunks</a:t>
            </a:r>
            <a:r>
              <a:rPr lang="es-PE" sz="1100" dirty="0"/>
              <a:t> más relevantes para responder la pregunta.</a:t>
            </a:r>
          </a:p>
          <a:p>
            <a:pPr marL="0" lvl="0" indent="0" algn="just" rtl="0">
              <a:spcBef>
                <a:spcPts val="0"/>
              </a:spcBef>
              <a:spcAft>
                <a:spcPts val="0"/>
              </a:spcAft>
              <a:buNone/>
            </a:pPr>
            <a:endParaRPr lang="es-PE" sz="1100" dirty="0"/>
          </a:p>
          <a:p>
            <a:pPr marL="0" lvl="0" indent="0" algn="just" rtl="0">
              <a:spcBef>
                <a:spcPts val="0"/>
              </a:spcBef>
              <a:spcAft>
                <a:spcPts val="0"/>
              </a:spcAft>
              <a:buNone/>
            </a:pPr>
            <a:r>
              <a:rPr lang="es-PE" sz="1100" dirty="0"/>
              <a:t>Esta es la parte central del </a:t>
            </a:r>
            <a:r>
              <a:rPr lang="es-PE" sz="1100" dirty="0" err="1"/>
              <a:t>retrieval</a:t>
            </a:r>
            <a:r>
              <a:rPr lang="es-PE" sz="1100" dirty="0"/>
              <a:t> dentro de RAG, ya que determina qué contexto será entregado al modelo generativo.</a:t>
            </a:r>
            <a:endParaRPr lang="es-MX" sz="1100" dirty="0"/>
          </a:p>
        </p:txBody>
      </p:sp>
      <p:grpSp>
        <p:nvGrpSpPr>
          <p:cNvPr id="1533" name="Google Shape;1533;p39">
            <a:extLst>
              <a:ext uri="{FF2B5EF4-FFF2-40B4-BE49-F238E27FC236}">
                <a16:creationId xmlns:a16="http://schemas.microsoft.com/office/drawing/2014/main" id="{065BE726-1050-1225-E3B7-13D5135B3473}"/>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BF3DBDE3-8561-7AA5-DE38-F14677B08A8F}"/>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7BDED9BD-0012-BB57-916F-28CD6242F6A4}"/>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CEE15489-FC74-5271-E9CE-E302F5A31DCC}"/>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37397101-A471-015C-73A5-53DDDB63F4CE}"/>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15744D7A-577A-0714-1D9D-89016F40D68F}"/>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AF8ABB32-F6B0-7134-D8AD-4539FBAD8B09}"/>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3280406B-504C-DC25-A2DA-AB95984E95B2}"/>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 name="Imagen 5">
            <a:extLst>
              <a:ext uri="{FF2B5EF4-FFF2-40B4-BE49-F238E27FC236}">
                <a16:creationId xmlns:a16="http://schemas.microsoft.com/office/drawing/2014/main" id="{890D736E-C8DB-4B9C-DF6F-FE0F491B09B6}"/>
              </a:ext>
            </a:extLst>
          </p:cNvPr>
          <p:cNvPicPr>
            <a:picLocks noChangeAspect="1"/>
          </p:cNvPicPr>
          <p:nvPr/>
        </p:nvPicPr>
        <p:blipFill>
          <a:blip r:embed="rId3"/>
          <a:stretch>
            <a:fillRect/>
          </a:stretch>
        </p:blipFill>
        <p:spPr>
          <a:xfrm>
            <a:off x="5300762" y="2481558"/>
            <a:ext cx="3637271" cy="1934809"/>
          </a:xfrm>
          <a:prstGeom prst="rect">
            <a:avLst/>
          </a:prstGeom>
        </p:spPr>
      </p:pic>
      <p:pic>
        <p:nvPicPr>
          <p:cNvPr id="9" name="Imagen 8">
            <a:extLst>
              <a:ext uri="{FF2B5EF4-FFF2-40B4-BE49-F238E27FC236}">
                <a16:creationId xmlns:a16="http://schemas.microsoft.com/office/drawing/2014/main" id="{0BF07E14-A6CE-A2AD-FDAE-021F37748A8E}"/>
              </a:ext>
            </a:extLst>
          </p:cNvPr>
          <p:cNvPicPr>
            <a:picLocks noChangeAspect="1"/>
          </p:cNvPicPr>
          <p:nvPr/>
        </p:nvPicPr>
        <p:blipFill>
          <a:blip r:embed="rId4"/>
          <a:stretch>
            <a:fillRect/>
          </a:stretch>
        </p:blipFill>
        <p:spPr>
          <a:xfrm>
            <a:off x="243610" y="2481558"/>
            <a:ext cx="4801846" cy="1934810"/>
          </a:xfrm>
          <a:prstGeom prst="rect">
            <a:avLst/>
          </a:prstGeom>
        </p:spPr>
      </p:pic>
    </p:spTree>
    <p:extLst>
      <p:ext uri="{BB962C8B-B14F-4D97-AF65-F5344CB8AC3E}">
        <p14:creationId xmlns:p14="http://schemas.microsoft.com/office/powerpoint/2010/main" val="471690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555F8C19-1A69-AB4B-90D4-2456110109C2}"/>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74A8338C-1DF7-FBF2-0837-99909E29F94E}"/>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sz="2400" dirty="0"/>
              <a:t>Reordenamiento de resultados con </a:t>
            </a:r>
            <a:r>
              <a:rPr lang="es-PE" sz="2400" dirty="0" err="1"/>
              <a:t>reranker</a:t>
            </a:r>
            <a:endParaRPr sz="2400" dirty="0"/>
          </a:p>
        </p:txBody>
      </p:sp>
      <p:sp>
        <p:nvSpPr>
          <p:cNvPr id="1532" name="Google Shape;1532;p39">
            <a:extLst>
              <a:ext uri="{FF2B5EF4-FFF2-40B4-BE49-F238E27FC236}">
                <a16:creationId xmlns:a16="http://schemas.microsoft.com/office/drawing/2014/main" id="{99FCECB5-F7E3-8346-87EC-8F50739E7DB1}"/>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Aunque FAISS recupera fragmentos semánticamente cercanos, estos resultados aún pueden mejorarse. Por ello, el sistema utiliza un Cross-</a:t>
            </a:r>
            <a:r>
              <a:rPr lang="es-PE" sz="1100" dirty="0" err="1"/>
              <a:t>Encoder</a:t>
            </a:r>
            <a:r>
              <a:rPr lang="es-PE" sz="1100" dirty="0"/>
              <a:t> para volver a evaluar la relación entre la consulta y cada </a:t>
            </a:r>
            <a:r>
              <a:rPr lang="es-PE" sz="1100" dirty="0" err="1"/>
              <a:t>chunk</a:t>
            </a:r>
            <a:r>
              <a:rPr lang="es-PE" sz="1100" dirty="0"/>
              <a:t> recuperado. A diferencia del </a:t>
            </a:r>
            <a:r>
              <a:rPr lang="es-PE" sz="1100" dirty="0" err="1"/>
              <a:t>embedding</a:t>
            </a:r>
            <a:r>
              <a:rPr lang="es-PE" sz="1100" dirty="0"/>
              <a:t> inicial, el </a:t>
            </a:r>
            <a:r>
              <a:rPr lang="es-PE" sz="1100" dirty="0" err="1"/>
              <a:t>reranker</a:t>
            </a:r>
            <a:r>
              <a:rPr lang="es-PE" sz="1100" dirty="0"/>
              <a:t> analiza cada par (</a:t>
            </a:r>
            <a:r>
              <a:rPr lang="es-PE" sz="1100" dirty="0" err="1"/>
              <a:t>query</a:t>
            </a:r>
            <a:r>
              <a:rPr lang="es-PE" sz="1100" dirty="0"/>
              <a:t>, </a:t>
            </a:r>
            <a:r>
              <a:rPr lang="es-PE" sz="1100" dirty="0" err="1"/>
              <a:t>chunk</a:t>
            </a:r>
            <a:r>
              <a:rPr lang="es-PE" sz="1100" dirty="0"/>
              <a:t>) con mayor detalle y asigna un score de relevancia más preciso. Así, los mejores fragmentos pasan a formar el contexto final del LLM.</a:t>
            </a:r>
            <a:endParaRPr lang="es-MX" sz="1100" dirty="0"/>
          </a:p>
        </p:txBody>
      </p:sp>
      <p:grpSp>
        <p:nvGrpSpPr>
          <p:cNvPr id="1533" name="Google Shape;1533;p39">
            <a:extLst>
              <a:ext uri="{FF2B5EF4-FFF2-40B4-BE49-F238E27FC236}">
                <a16:creationId xmlns:a16="http://schemas.microsoft.com/office/drawing/2014/main" id="{4869EA4C-E0C3-D4FD-99AA-9BBFAAC24A77}"/>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9AFEB2CD-7DCF-6A3E-A76C-3F56EA44BB7B}"/>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9B46CFB4-E022-77E2-5CE1-57BCAC0F96E7}"/>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5D848FE3-59A9-C25D-702B-2E3158324C9D}"/>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2807CF71-2D9B-0996-84AB-D3EAA5347775}"/>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FFF3E592-95B1-8D69-F43E-84A12B063503}"/>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8CF766E6-C86B-F6C9-E502-F964163410C8}"/>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D9A540C9-6814-9718-5F81-C967F2FE1A5F}"/>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Imagen 2">
            <a:extLst>
              <a:ext uri="{FF2B5EF4-FFF2-40B4-BE49-F238E27FC236}">
                <a16:creationId xmlns:a16="http://schemas.microsoft.com/office/drawing/2014/main" id="{ACF0720A-691D-30B5-A4D0-C4D901B405DB}"/>
              </a:ext>
            </a:extLst>
          </p:cNvPr>
          <p:cNvPicPr>
            <a:picLocks noChangeAspect="1"/>
          </p:cNvPicPr>
          <p:nvPr/>
        </p:nvPicPr>
        <p:blipFill>
          <a:blip r:embed="rId3"/>
          <a:stretch>
            <a:fillRect/>
          </a:stretch>
        </p:blipFill>
        <p:spPr>
          <a:xfrm>
            <a:off x="522654" y="2078556"/>
            <a:ext cx="3934374" cy="1848108"/>
          </a:xfrm>
          <a:prstGeom prst="rect">
            <a:avLst/>
          </a:prstGeom>
        </p:spPr>
      </p:pic>
      <p:pic>
        <p:nvPicPr>
          <p:cNvPr id="5" name="Imagen 4">
            <a:extLst>
              <a:ext uri="{FF2B5EF4-FFF2-40B4-BE49-F238E27FC236}">
                <a16:creationId xmlns:a16="http://schemas.microsoft.com/office/drawing/2014/main" id="{742A8A6A-D9DF-01C2-D590-6B1809778BAA}"/>
              </a:ext>
            </a:extLst>
          </p:cNvPr>
          <p:cNvPicPr>
            <a:picLocks noChangeAspect="1"/>
          </p:cNvPicPr>
          <p:nvPr/>
        </p:nvPicPr>
        <p:blipFill>
          <a:blip r:embed="rId4"/>
          <a:stretch>
            <a:fillRect/>
          </a:stretch>
        </p:blipFill>
        <p:spPr>
          <a:xfrm>
            <a:off x="4752496" y="2015669"/>
            <a:ext cx="3890068" cy="2682806"/>
          </a:xfrm>
          <a:prstGeom prst="rect">
            <a:avLst/>
          </a:prstGeom>
        </p:spPr>
      </p:pic>
    </p:spTree>
    <p:extLst>
      <p:ext uri="{BB962C8B-B14F-4D97-AF65-F5344CB8AC3E}">
        <p14:creationId xmlns:p14="http://schemas.microsoft.com/office/powerpoint/2010/main" val="500094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100A1255-AADA-53B8-A144-0591B9643AF3}"/>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F26BC1CF-1A5C-5826-39FD-08ECCCCAE279}"/>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sz="2800" dirty="0"/>
              <a:t>Generación de la respuesta con </a:t>
            </a:r>
            <a:r>
              <a:rPr lang="es-PE" sz="2800" dirty="0" err="1"/>
              <a:t>Qwen</a:t>
            </a:r>
            <a:endParaRPr sz="2800" dirty="0"/>
          </a:p>
        </p:txBody>
      </p:sp>
      <p:sp>
        <p:nvSpPr>
          <p:cNvPr id="1532" name="Google Shape;1532;p39">
            <a:extLst>
              <a:ext uri="{FF2B5EF4-FFF2-40B4-BE49-F238E27FC236}">
                <a16:creationId xmlns:a16="http://schemas.microsoft.com/office/drawing/2014/main" id="{59EFABC6-A636-3B98-7F30-6D31D3C661E7}"/>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Luego, el sistema toma los 3 </a:t>
            </a:r>
            <a:r>
              <a:rPr lang="es-PE" sz="1100" dirty="0" err="1"/>
              <a:t>chunks</a:t>
            </a:r>
            <a:r>
              <a:rPr lang="es-PE" sz="1100" dirty="0"/>
              <a:t> mejor rankeados y los une como contexto para construir el </a:t>
            </a:r>
            <a:r>
              <a:rPr lang="es-PE" sz="1100" dirty="0" err="1"/>
              <a:t>prompt</a:t>
            </a:r>
            <a:r>
              <a:rPr lang="es-PE" sz="1100" dirty="0"/>
              <a:t>. Ese contexto es enviado al modelo Qwen2-1.5B-Instruct, que genera una respuesta breve y estructurada en forma de lista.</a:t>
            </a:r>
          </a:p>
          <a:p>
            <a:pPr marL="0" lvl="0" indent="0" algn="just" rtl="0">
              <a:spcBef>
                <a:spcPts val="0"/>
              </a:spcBef>
              <a:spcAft>
                <a:spcPts val="0"/>
              </a:spcAft>
              <a:buNone/>
            </a:pPr>
            <a:endParaRPr lang="es-PE" sz="400" dirty="0"/>
          </a:p>
          <a:p>
            <a:pPr marL="0" lvl="0" indent="0" algn="just" rtl="0">
              <a:spcBef>
                <a:spcPts val="0"/>
              </a:spcBef>
              <a:spcAft>
                <a:spcPts val="0"/>
              </a:spcAft>
              <a:buNone/>
            </a:pPr>
            <a:r>
              <a:rPr lang="es-PE" sz="1100" dirty="0"/>
              <a:t>Esta etapa corresponde a la parte de </a:t>
            </a:r>
            <a:r>
              <a:rPr lang="es-PE" sz="1100" dirty="0" err="1"/>
              <a:t>generation</a:t>
            </a:r>
            <a:r>
              <a:rPr lang="es-PE" sz="1100" dirty="0"/>
              <a:t> en RAG. El modelo no responde desde cero, sino condicionado por el contexto recuperado del documento.</a:t>
            </a:r>
            <a:endParaRPr lang="es-MX" sz="1100" dirty="0"/>
          </a:p>
        </p:txBody>
      </p:sp>
      <p:grpSp>
        <p:nvGrpSpPr>
          <p:cNvPr id="1533" name="Google Shape;1533;p39">
            <a:extLst>
              <a:ext uri="{FF2B5EF4-FFF2-40B4-BE49-F238E27FC236}">
                <a16:creationId xmlns:a16="http://schemas.microsoft.com/office/drawing/2014/main" id="{8D16EA91-B6B5-EBFA-E8E1-1D9924B353F0}"/>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63FCBBC6-C7EF-BB69-3B06-884D9348EF24}"/>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B2921EA8-C084-C484-E38D-8DD8D9771B0A}"/>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6D1CCCAB-7A33-47C3-9C85-0556EEE0DFFB}"/>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4A9BF3D1-824D-88DF-6F5F-5C144BFBD796}"/>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3FC28F19-4C94-4819-45B8-4E0650AC649D}"/>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C2A94724-DEE1-80E1-5073-5A216282DCB4}"/>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86ECE78C-2E83-BC8E-80C3-C34842B2F7E2}"/>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 name="Imagen 5">
            <a:extLst>
              <a:ext uri="{FF2B5EF4-FFF2-40B4-BE49-F238E27FC236}">
                <a16:creationId xmlns:a16="http://schemas.microsoft.com/office/drawing/2014/main" id="{4795771A-1D89-C7FD-9F5D-7350B0933434}"/>
              </a:ext>
            </a:extLst>
          </p:cNvPr>
          <p:cNvPicPr>
            <a:picLocks noChangeAspect="1"/>
          </p:cNvPicPr>
          <p:nvPr/>
        </p:nvPicPr>
        <p:blipFill>
          <a:blip r:embed="rId3"/>
          <a:stretch>
            <a:fillRect/>
          </a:stretch>
        </p:blipFill>
        <p:spPr>
          <a:xfrm>
            <a:off x="720000" y="2365373"/>
            <a:ext cx="3852000" cy="2252096"/>
          </a:xfrm>
          <a:prstGeom prst="rect">
            <a:avLst/>
          </a:prstGeom>
        </p:spPr>
      </p:pic>
      <p:pic>
        <p:nvPicPr>
          <p:cNvPr id="8" name="Imagen 7">
            <a:extLst>
              <a:ext uri="{FF2B5EF4-FFF2-40B4-BE49-F238E27FC236}">
                <a16:creationId xmlns:a16="http://schemas.microsoft.com/office/drawing/2014/main" id="{ED8EA526-29FD-CF44-2D91-789275FA82EF}"/>
              </a:ext>
            </a:extLst>
          </p:cNvPr>
          <p:cNvPicPr>
            <a:picLocks noChangeAspect="1"/>
          </p:cNvPicPr>
          <p:nvPr/>
        </p:nvPicPr>
        <p:blipFill>
          <a:blip r:embed="rId4"/>
          <a:stretch>
            <a:fillRect/>
          </a:stretch>
        </p:blipFill>
        <p:spPr>
          <a:xfrm>
            <a:off x="4816517" y="2407510"/>
            <a:ext cx="4136610" cy="2215661"/>
          </a:xfrm>
          <a:prstGeom prst="rect">
            <a:avLst/>
          </a:prstGeom>
        </p:spPr>
      </p:pic>
    </p:spTree>
    <p:extLst>
      <p:ext uri="{BB962C8B-B14F-4D97-AF65-F5344CB8AC3E}">
        <p14:creationId xmlns:p14="http://schemas.microsoft.com/office/powerpoint/2010/main" val="167974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ACE3A6D6-2762-B415-825A-67AE305A2300}"/>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BAF90D03-67F4-6166-5ECD-D43B38FCD0BD}"/>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sz="2800" dirty="0"/>
              <a:t>Validación de la respuesta generada</a:t>
            </a:r>
            <a:endParaRPr sz="2800" dirty="0"/>
          </a:p>
        </p:txBody>
      </p:sp>
      <p:sp>
        <p:nvSpPr>
          <p:cNvPr id="1532" name="Google Shape;1532;p39">
            <a:extLst>
              <a:ext uri="{FF2B5EF4-FFF2-40B4-BE49-F238E27FC236}">
                <a16:creationId xmlns:a16="http://schemas.microsoft.com/office/drawing/2014/main" id="{ACE180C0-BFAF-E1C2-CADD-7F1B57890417}"/>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Después de generar la respuesta con el modelo de lenguaje, el sistema divide el texto en oraciones y compara cada una con los fragmentos recuperados durante la etapa de </a:t>
            </a:r>
            <a:r>
              <a:rPr lang="es-PE" sz="1100" dirty="0" err="1"/>
              <a:t>retrieval</a:t>
            </a:r>
            <a:r>
              <a:rPr lang="es-PE" sz="1100" dirty="0"/>
              <a:t>. Luego asigna a cada oración la cita del fragmento más similar, representado como [Doc1], [Doc2] o [Doc3].</a:t>
            </a:r>
          </a:p>
          <a:p>
            <a:pPr marL="0" lvl="0" indent="0" algn="just" rtl="0">
              <a:spcBef>
                <a:spcPts val="0"/>
              </a:spcBef>
              <a:spcAft>
                <a:spcPts val="0"/>
              </a:spcAft>
              <a:buNone/>
            </a:pPr>
            <a:endParaRPr lang="es-PE" sz="500" dirty="0"/>
          </a:p>
          <a:p>
            <a:pPr marL="0" lvl="0" indent="0" algn="just" rtl="0">
              <a:spcBef>
                <a:spcPts val="0"/>
              </a:spcBef>
              <a:spcAft>
                <a:spcPts val="0"/>
              </a:spcAft>
              <a:buNone/>
            </a:pPr>
            <a:r>
              <a:rPr lang="es-PE" sz="1100" dirty="0"/>
              <a:t>Esto permite rastrear qué parte del documento respalda cada oración de la respuesta final, mejorando la interpretabilidad del sistema RAG.</a:t>
            </a:r>
            <a:endParaRPr lang="es-MX" sz="1100" dirty="0"/>
          </a:p>
        </p:txBody>
      </p:sp>
      <p:grpSp>
        <p:nvGrpSpPr>
          <p:cNvPr id="1533" name="Google Shape;1533;p39">
            <a:extLst>
              <a:ext uri="{FF2B5EF4-FFF2-40B4-BE49-F238E27FC236}">
                <a16:creationId xmlns:a16="http://schemas.microsoft.com/office/drawing/2014/main" id="{F7D431A7-070A-D687-E2CF-F04985AB2D9B}"/>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F80CD7BD-DEC3-4950-D22F-2FA314259967}"/>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C45B8019-56D2-BB3E-1948-1906E4DC28E3}"/>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13E5AE1D-6190-7AC1-3C98-E3D6CA2FA9D2}"/>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5061ABA2-E40A-0ACA-DADD-242A8B2A616A}"/>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74E27964-F7C8-AD0A-66CE-203D3F2081D2}"/>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2180349F-E658-BC02-0B8D-92ADB0AB0BB5}"/>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9EA6B0F2-192A-73E9-2A76-8B746A036A6E}"/>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Imagen 2">
            <a:extLst>
              <a:ext uri="{FF2B5EF4-FFF2-40B4-BE49-F238E27FC236}">
                <a16:creationId xmlns:a16="http://schemas.microsoft.com/office/drawing/2014/main" id="{8361A09B-45B0-5A64-65B6-23251A8209AD}"/>
              </a:ext>
            </a:extLst>
          </p:cNvPr>
          <p:cNvPicPr>
            <a:picLocks noChangeAspect="1"/>
          </p:cNvPicPr>
          <p:nvPr/>
        </p:nvPicPr>
        <p:blipFill>
          <a:blip r:embed="rId3"/>
          <a:stretch>
            <a:fillRect/>
          </a:stretch>
        </p:blipFill>
        <p:spPr>
          <a:xfrm>
            <a:off x="720000" y="3009904"/>
            <a:ext cx="5729540" cy="1830600"/>
          </a:xfrm>
          <a:prstGeom prst="rect">
            <a:avLst/>
          </a:prstGeom>
        </p:spPr>
      </p:pic>
      <p:pic>
        <p:nvPicPr>
          <p:cNvPr id="5" name="Imagen 4">
            <a:extLst>
              <a:ext uri="{FF2B5EF4-FFF2-40B4-BE49-F238E27FC236}">
                <a16:creationId xmlns:a16="http://schemas.microsoft.com/office/drawing/2014/main" id="{6D5FBE10-2847-BE38-5DE8-8AFFB98ACB14}"/>
              </a:ext>
            </a:extLst>
          </p:cNvPr>
          <p:cNvPicPr>
            <a:picLocks noChangeAspect="1"/>
          </p:cNvPicPr>
          <p:nvPr/>
        </p:nvPicPr>
        <p:blipFill>
          <a:blip r:embed="rId4"/>
          <a:stretch>
            <a:fillRect/>
          </a:stretch>
        </p:blipFill>
        <p:spPr>
          <a:xfrm>
            <a:off x="720000" y="2424270"/>
            <a:ext cx="5601482" cy="390580"/>
          </a:xfrm>
          <a:prstGeom prst="rect">
            <a:avLst/>
          </a:prstGeom>
        </p:spPr>
      </p:pic>
    </p:spTree>
    <p:extLst>
      <p:ext uri="{BB962C8B-B14F-4D97-AF65-F5344CB8AC3E}">
        <p14:creationId xmlns:p14="http://schemas.microsoft.com/office/powerpoint/2010/main" val="1088763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0FA7F95F-A828-2352-AF29-1C39C57121CF}"/>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642A39E9-2622-C24C-5C96-D1EA55F91225}"/>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dirty="0"/>
              <a:t>Detección básica de alucinaciones</a:t>
            </a:r>
            <a:endParaRPr dirty="0"/>
          </a:p>
        </p:txBody>
      </p:sp>
      <p:sp>
        <p:nvSpPr>
          <p:cNvPr id="1532" name="Google Shape;1532;p39">
            <a:extLst>
              <a:ext uri="{FF2B5EF4-FFF2-40B4-BE49-F238E27FC236}">
                <a16:creationId xmlns:a16="http://schemas.microsoft.com/office/drawing/2014/main" id="{6D0601F0-E2ED-EE1B-4EB5-32DF5AFD26CF}"/>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Después de generar la respuesta, el sistema calcula qué tan similar es cada oración respecto a los </a:t>
            </a:r>
            <a:r>
              <a:rPr lang="es-PE" sz="1100" dirty="0" err="1"/>
              <a:t>chunks</a:t>
            </a:r>
            <a:r>
              <a:rPr lang="es-PE" sz="1100" dirty="0"/>
              <a:t> recuperados. Para ello, compara los </a:t>
            </a:r>
            <a:r>
              <a:rPr lang="es-PE" sz="1100" dirty="0" err="1"/>
              <a:t>embeddings</a:t>
            </a:r>
            <a:r>
              <a:rPr lang="es-PE" sz="1100" dirty="0"/>
              <a:t> de las oraciones con los </a:t>
            </a:r>
            <a:r>
              <a:rPr lang="es-PE" sz="1100" dirty="0" err="1"/>
              <a:t>embeddings</a:t>
            </a:r>
            <a:r>
              <a:rPr lang="es-PE" sz="1100" dirty="0"/>
              <a:t> del contexto documental usando similitud coseno.</a:t>
            </a:r>
          </a:p>
          <a:p>
            <a:pPr marL="0" lvl="0" indent="0" algn="just" rtl="0">
              <a:spcBef>
                <a:spcPts val="0"/>
              </a:spcBef>
              <a:spcAft>
                <a:spcPts val="0"/>
              </a:spcAft>
              <a:buNone/>
            </a:pPr>
            <a:endParaRPr lang="es-PE" sz="1100" dirty="0"/>
          </a:p>
          <a:p>
            <a:pPr marL="0" lvl="0" indent="0" algn="just" rtl="0">
              <a:spcBef>
                <a:spcPts val="0"/>
              </a:spcBef>
              <a:spcAft>
                <a:spcPts val="0"/>
              </a:spcAft>
              <a:buNone/>
            </a:pPr>
            <a:r>
              <a:rPr lang="es-PE" sz="1100" dirty="0"/>
              <a:t>Si una oración obtiene un puntaje muy bajo, se considera como una posible alucinación, es decir, una afirmación que no estaría suficientemente respaldada por la evidencia recuperada.</a:t>
            </a:r>
          </a:p>
          <a:p>
            <a:pPr marL="0" lvl="0" indent="0" algn="just" rtl="0">
              <a:spcBef>
                <a:spcPts val="0"/>
              </a:spcBef>
              <a:spcAft>
                <a:spcPts val="0"/>
              </a:spcAft>
              <a:buNone/>
            </a:pPr>
            <a:r>
              <a:rPr lang="es-PE" sz="1100" dirty="0"/>
              <a:t>En este caso, el </a:t>
            </a:r>
            <a:r>
              <a:rPr lang="es-PE" sz="1100" dirty="0" err="1"/>
              <a:t>grounding</a:t>
            </a:r>
            <a:r>
              <a:rPr lang="es-PE" sz="1100" dirty="0"/>
              <a:t> score promedio fue 0.775, lo que indica que la mayor parte de la respuesta se encuentra bien sustentada por los fragmentos recuperados.</a:t>
            </a:r>
            <a:endParaRPr lang="es-MX" sz="1100" dirty="0"/>
          </a:p>
        </p:txBody>
      </p:sp>
      <p:grpSp>
        <p:nvGrpSpPr>
          <p:cNvPr id="1533" name="Google Shape;1533;p39">
            <a:extLst>
              <a:ext uri="{FF2B5EF4-FFF2-40B4-BE49-F238E27FC236}">
                <a16:creationId xmlns:a16="http://schemas.microsoft.com/office/drawing/2014/main" id="{BFAA8A7A-D36E-47F6-D0A2-9FFA92E9507D}"/>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17DAB5D4-1594-681B-D83A-3235636CEFB7}"/>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8EE6BE9D-A204-B30A-7343-A2BD2FB259DF}"/>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371C7B5C-C340-F145-26F4-9BFCD0BD2847}"/>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76CF1934-08A1-81BB-5CC0-21B2CBE9334D}"/>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02AFD9F3-22E9-6F3F-BECB-B52078681844}"/>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6C11A98A-D6D4-47DC-C2FF-E301505A0F03}"/>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7FF0ED56-4BF3-39C2-0185-EA82C401505F}"/>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9" name="Imagen 8">
            <a:extLst>
              <a:ext uri="{FF2B5EF4-FFF2-40B4-BE49-F238E27FC236}">
                <a16:creationId xmlns:a16="http://schemas.microsoft.com/office/drawing/2014/main" id="{5CA68FA8-D136-6EA4-080E-3C70F06EC096}"/>
              </a:ext>
            </a:extLst>
          </p:cNvPr>
          <p:cNvPicPr>
            <a:picLocks noChangeAspect="1"/>
          </p:cNvPicPr>
          <p:nvPr/>
        </p:nvPicPr>
        <p:blipFill>
          <a:blip r:embed="rId3"/>
          <a:stretch>
            <a:fillRect/>
          </a:stretch>
        </p:blipFill>
        <p:spPr>
          <a:xfrm>
            <a:off x="2693195" y="2850558"/>
            <a:ext cx="3757609" cy="2126687"/>
          </a:xfrm>
          <a:prstGeom prst="rect">
            <a:avLst/>
          </a:prstGeom>
        </p:spPr>
      </p:pic>
    </p:spTree>
    <p:extLst>
      <p:ext uri="{BB962C8B-B14F-4D97-AF65-F5344CB8AC3E}">
        <p14:creationId xmlns:p14="http://schemas.microsoft.com/office/powerpoint/2010/main" val="3676334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6E86A19E-239C-0E40-BA47-92DEBA19DCC3}"/>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1836E79C-3A19-F0B1-7F2A-DB777B68EA13}"/>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sz="2400" dirty="0"/>
              <a:t>Evaluación del </a:t>
            </a:r>
            <a:r>
              <a:rPr lang="es-PE" sz="2400" dirty="0" err="1"/>
              <a:t>grounding</a:t>
            </a:r>
            <a:r>
              <a:rPr lang="es-PE" sz="2400" dirty="0"/>
              <a:t> de la respuesta</a:t>
            </a:r>
            <a:endParaRPr sz="2400" dirty="0"/>
          </a:p>
        </p:txBody>
      </p:sp>
      <p:sp>
        <p:nvSpPr>
          <p:cNvPr id="1532" name="Google Shape;1532;p39">
            <a:extLst>
              <a:ext uri="{FF2B5EF4-FFF2-40B4-BE49-F238E27FC236}">
                <a16:creationId xmlns:a16="http://schemas.microsoft.com/office/drawing/2014/main" id="{4B4DBB59-5D38-CE0D-4A3B-E1C31578A7BD}"/>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PE" sz="1100" dirty="0"/>
              <a:t>Luego del cálculo individual de similitud por oración, el sistema mide cuántas oraciones superan un umbral mínimo de respaldo documental. En este caso, se definió un umbral de 0.5 para considerar que una oración está correctamente fundamentada.</a:t>
            </a:r>
          </a:p>
          <a:p>
            <a:pPr marL="0" lvl="0" indent="0" algn="just" rtl="0">
              <a:spcBef>
                <a:spcPts val="0"/>
              </a:spcBef>
              <a:spcAft>
                <a:spcPts val="0"/>
              </a:spcAft>
              <a:buNone/>
            </a:pPr>
            <a:endParaRPr lang="es-PE" sz="500" dirty="0"/>
          </a:p>
          <a:p>
            <a:pPr marL="0" lvl="0" indent="0" algn="just" rtl="0">
              <a:spcBef>
                <a:spcPts val="0"/>
              </a:spcBef>
              <a:spcAft>
                <a:spcPts val="0"/>
              </a:spcAft>
              <a:buNone/>
            </a:pPr>
            <a:r>
              <a:rPr lang="es-PE" sz="1100" dirty="0"/>
              <a:t>Los resultados muestran que las 8 oraciones de la respuesta superaron dicho umbral, obteniéndose un </a:t>
            </a:r>
            <a:r>
              <a:rPr lang="es-PE" sz="1100" dirty="0" err="1"/>
              <a:t>grounded</a:t>
            </a:r>
            <a:r>
              <a:rPr lang="es-PE" sz="1100" dirty="0"/>
              <a:t> ratio de 1.0. Esto significa que, según la métrica utilizada, toda la respuesta se encuentra respaldada por el contexto recuperado.</a:t>
            </a:r>
            <a:endParaRPr lang="es-MX" sz="1100" dirty="0"/>
          </a:p>
        </p:txBody>
      </p:sp>
      <p:grpSp>
        <p:nvGrpSpPr>
          <p:cNvPr id="1533" name="Google Shape;1533;p39">
            <a:extLst>
              <a:ext uri="{FF2B5EF4-FFF2-40B4-BE49-F238E27FC236}">
                <a16:creationId xmlns:a16="http://schemas.microsoft.com/office/drawing/2014/main" id="{A803FD8A-9F3A-87C8-F077-8AF3DF366BB2}"/>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86C2D5D2-405F-D4A0-8A9A-99D5EEBC68C0}"/>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0FD15F2C-C64D-4E23-2282-892E8F6A66AC}"/>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501CFA03-AE15-23BB-76B4-39DDA2B8C8FB}"/>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BC61834F-7FEB-328E-C3FA-6956E139A692}"/>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80965429-5490-F5CC-FCE2-CDA86888D01E}"/>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C29A6C6D-8148-2208-0AC3-E19327CA0218}"/>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61BBBE87-2147-306C-17BF-3050864E6559}"/>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Imagen 2">
            <a:extLst>
              <a:ext uri="{FF2B5EF4-FFF2-40B4-BE49-F238E27FC236}">
                <a16:creationId xmlns:a16="http://schemas.microsoft.com/office/drawing/2014/main" id="{2AD631BC-0303-919C-B03D-DFE339A58B18}"/>
              </a:ext>
            </a:extLst>
          </p:cNvPr>
          <p:cNvPicPr>
            <a:picLocks noChangeAspect="1"/>
          </p:cNvPicPr>
          <p:nvPr/>
        </p:nvPicPr>
        <p:blipFill>
          <a:blip r:embed="rId3"/>
          <a:stretch>
            <a:fillRect/>
          </a:stretch>
        </p:blipFill>
        <p:spPr>
          <a:xfrm>
            <a:off x="2368798" y="2479601"/>
            <a:ext cx="4072112" cy="2389421"/>
          </a:xfrm>
          <a:prstGeom prst="rect">
            <a:avLst/>
          </a:prstGeom>
        </p:spPr>
      </p:pic>
    </p:spTree>
    <p:extLst>
      <p:ext uri="{BB962C8B-B14F-4D97-AF65-F5344CB8AC3E}">
        <p14:creationId xmlns:p14="http://schemas.microsoft.com/office/powerpoint/2010/main" val="1126848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14A61E4A-6AEC-EF0D-D218-11C1E05A145B}"/>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FA36D7FF-1797-7994-48EC-A717BD52D635}"/>
              </a:ext>
            </a:extLst>
          </p:cNvPr>
          <p:cNvSpPr txBox="1">
            <a:spLocks noGrp="1"/>
          </p:cNvSpPr>
          <p:nvPr>
            <p:ph type="title"/>
          </p:nvPr>
        </p:nvSpPr>
        <p:spPr>
          <a:xfrm>
            <a:off x="720000" y="445025"/>
            <a:ext cx="8022556" cy="572700"/>
          </a:xfrm>
          <a:prstGeom prst="rect">
            <a:avLst/>
          </a:prstGeom>
        </p:spPr>
        <p:txBody>
          <a:bodyPr spcFirstLastPara="1" wrap="square" lIns="91425" tIns="91425" rIns="91425" bIns="91425" anchor="t" anchorCtr="0">
            <a:noAutofit/>
          </a:bodyPr>
          <a:lstStyle/>
          <a:p>
            <a:pPr lvl="0" algn="l"/>
            <a:r>
              <a:rPr lang="es-PE" sz="2400" dirty="0"/>
              <a:t>Evaluación automática de la respuesta</a:t>
            </a:r>
            <a:endParaRPr sz="2400" dirty="0"/>
          </a:p>
        </p:txBody>
      </p:sp>
      <p:sp>
        <p:nvSpPr>
          <p:cNvPr id="1532" name="Google Shape;1532;p39">
            <a:extLst>
              <a:ext uri="{FF2B5EF4-FFF2-40B4-BE49-F238E27FC236}">
                <a16:creationId xmlns:a16="http://schemas.microsoft.com/office/drawing/2014/main" id="{4C109B21-087C-953A-D784-4B2BB84E71F3}"/>
              </a:ext>
            </a:extLst>
          </p:cNvPr>
          <p:cNvSpPr txBox="1">
            <a:spLocks noGrp="1"/>
          </p:cNvSpPr>
          <p:nvPr>
            <p:ph type="subTitle" idx="2"/>
          </p:nvPr>
        </p:nvSpPr>
        <p:spPr>
          <a:xfrm>
            <a:off x="720000" y="1019958"/>
            <a:ext cx="8218033" cy="1830600"/>
          </a:xfrm>
          <a:prstGeom prst="rect">
            <a:avLst/>
          </a:prstGeom>
        </p:spPr>
        <p:txBody>
          <a:bodyPr spcFirstLastPara="1" wrap="square" lIns="91425" tIns="91425" rIns="91425" bIns="91425" anchor="t" anchorCtr="0">
            <a:noAutofit/>
          </a:bodyPr>
          <a:lstStyle/>
          <a:p>
            <a:pPr marL="0" lvl="0" indent="0" algn="just"/>
            <a:r>
              <a:rPr lang="es-PE" sz="1100" dirty="0"/>
              <a:t>Finalmente, la respuesta generada se compara con una respuesta de referencia mediante métricas </a:t>
            </a:r>
            <a:r>
              <a:rPr lang="es-PE" sz="1100" b="1" dirty="0"/>
              <a:t>ROUGE</a:t>
            </a:r>
            <a:r>
              <a:rPr lang="es-PE" sz="1100" dirty="0"/>
              <a:t>, ampliamente utilizadas en tareas de resumen y generación de texto.</a:t>
            </a:r>
          </a:p>
          <a:p>
            <a:pPr marL="0" lvl="0" indent="0" algn="just"/>
            <a:endParaRPr lang="es-PE" sz="400" dirty="0"/>
          </a:p>
          <a:p>
            <a:pPr marL="0" lvl="0" indent="0" algn="just"/>
            <a:r>
              <a:rPr lang="es-PE" sz="1100" dirty="0"/>
              <a:t>En este caso, los resultados fueron:</a:t>
            </a:r>
          </a:p>
          <a:p>
            <a:pPr marL="171450" lvl="0" indent="-171450" algn="just">
              <a:buFont typeface="Arial" panose="020B0604020202020204" pitchFamily="34" charset="0"/>
              <a:buChar char="•"/>
            </a:pPr>
            <a:r>
              <a:rPr lang="es-PE" sz="1100" b="1" dirty="0"/>
              <a:t>ROUGE-1: 0.365 </a:t>
            </a:r>
          </a:p>
          <a:p>
            <a:pPr marL="171450" lvl="0" indent="-171450" algn="just">
              <a:buFont typeface="Arial" panose="020B0604020202020204" pitchFamily="34" charset="0"/>
              <a:buChar char="•"/>
            </a:pPr>
            <a:r>
              <a:rPr lang="es-PE" sz="1100" b="1" dirty="0"/>
              <a:t>ROUGE-2: 0.233</a:t>
            </a:r>
          </a:p>
          <a:p>
            <a:pPr marL="171450" lvl="0" indent="-171450" algn="just">
              <a:buFont typeface="Arial" panose="020B0604020202020204" pitchFamily="34" charset="0"/>
              <a:buChar char="•"/>
            </a:pPr>
            <a:r>
              <a:rPr lang="es-PE" sz="1100" b="1" dirty="0"/>
              <a:t>ROUGE-L: 0.324</a:t>
            </a:r>
          </a:p>
          <a:p>
            <a:pPr marL="0" lvl="0" indent="0" algn="just"/>
            <a:endParaRPr lang="es-PE" sz="400" b="1" dirty="0"/>
          </a:p>
          <a:p>
            <a:pPr marL="0" lvl="0" indent="0" algn="just"/>
            <a:r>
              <a:rPr lang="es-PE" sz="1100" dirty="0"/>
              <a:t>Estos valores muestran una coincidencia parcial entre la respuesta generada y la referencia, lo cual es esperable debido a que el modelo puede reformular la información con distintas palabras, manteniendo una idea similar sin repetir exactamente la misma redacción.</a:t>
            </a:r>
            <a:endParaRPr lang="es-MX" sz="1100" dirty="0"/>
          </a:p>
        </p:txBody>
      </p:sp>
      <p:grpSp>
        <p:nvGrpSpPr>
          <p:cNvPr id="1533" name="Google Shape;1533;p39">
            <a:extLst>
              <a:ext uri="{FF2B5EF4-FFF2-40B4-BE49-F238E27FC236}">
                <a16:creationId xmlns:a16="http://schemas.microsoft.com/office/drawing/2014/main" id="{9BDA3265-18E5-D33D-3A6A-E9D0D7D52718}"/>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93920733-1F42-D8ED-EE27-D5048A51CFD2}"/>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8CA8B950-8F93-77A4-FC73-18DC12754C17}"/>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F8516341-4177-B194-9A10-5BD0B8CACF9D}"/>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70476290-BE39-C20C-8F11-DEF1FB42E9DA}"/>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990D647F-3337-C7E2-B56A-AA7950752751}"/>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265908FC-0C3B-9FCE-A0B6-0C50E369DA73}"/>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A8EF141B-5D5B-2D45-1AE0-F1061CE91D52}"/>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Imagen 3">
            <a:extLst>
              <a:ext uri="{FF2B5EF4-FFF2-40B4-BE49-F238E27FC236}">
                <a16:creationId xmlns:a16="http://schemas.microsoft.com/office/drawing/2014/main" id="{D687F4A8-33CE-CA1C-E57D-9F4643BDEF70}"/>
              </a:ext>
            </a:extLst>
          </p:cNvPr>
          <p:cNvPicPr>
            <a:picLocks noChangeAspect="1"/>
          </p:cNvPicPr>
          <p:nvPr/>
        </p:nvPicPr>
        <p:blipFill>
          <a:blip r:embed="rId3"/>
          <a:stretch>
            <a:fillRect/>
          </a:stretch>
        </p:blipFill>
        <p:spPr>
          <a:xfrm>
            <a:off x="296868" y="3220878"/>
            <a:ext cx="4383858" cy="896526"/>
          </a:xfrm>
          <a:prstGeom prst="rect">
            <a:avLst/>
          </a:prstGeom>
        </p:spPr>
      </p:pic>
      <p:pic>
        <p:nvPicPr>
          <p:cNvPr id="7" name="Imagen 6">
            <a:extLst>
              <a:ext uri="{FF2B5EF4-FFF2-40B4-BE49-F238E27FC236}">
                <a16:creationId xmlns:a16="http://schemas.microsoft.com/office/drawing/2014/main" id="{EECBD9ED-74CE-65AF-E1FB-93544A425F6D}"/>
              </a:ext>
            </a:extLst>
          </p:cNvPr>
          <p:cNvPicPr>
            <a:picLocks noChangeAspect="1"/>
          </p:cNvPicPr>
          <p:nvPr/>
        </p:nvPicPr>
        <p:blipFill>
          <a:blip r:embed="rId4"/>
          <a:stretch>
            <a:fillRect/>
          </a:stretch>
        </p:blipFill>
        <p:spPr>
          <a:xfrm>
            <a:off x="4825292" y="3205999"/>
            <a:ext cx="4020612" cy="926284"/>
          </a:xfrm>
          <a:prstGeom prst="rect">
            <a:avLst/>
          </a:prstGeom>
        </p:spPr>
      </p:pic>
    </p:spTree>
    <p:extLst>
      <p:ext uri="{BB962C8B-B14F-4D97-AF65-F5344CB8AC3E}">
        <p14:creationId xmlns:p14="http://schemas.microsoft.com/office/powerpoint/2010/main" val="3977767093"/>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1127</Words>
  <Application>Microsoft Office PowerPoint</Application>
  <PresentationFormat>Presentación en pantalla (16:9)</PresentationFormat>
  <Paragraphs>59</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Poppins</vt:lpstr>
      <vt:lpstr>Arial</vt:lpstr>
      <vt:lpstr>IBM Plex Mono</vt:lpstr>
      <vt:lpstr>Introduction to Coding Workshop by Slidesgo</vt:lpstr>
      <vt:lpstr>Foundation Models en IA Generativa</vt:lpstr>
      <vt:lpstr>¿Qué es la técnica RAG?</vt:lpstr>
      <vt:lpstr>Objetivo del sistema implementado</vt:lpstr>
      <vt:lpstr>Carga del documento PDF</vt:lpstr>
      <vt:lpstr>División del texto en fragmentos</vt:lpstr>
      <vt:lpstr>Conversión de chunks a embeddings</vt:lpstr>
      <vt:lpstr>Indexación con FAISS HNSW</vt:lpstr>
      <vt:lpstr>Recuperación de contexto relevante</vt:lpstr>
      <vt:lpstr>Reordenamiento de resultados con reranker</vt:lpstr>
      <vt:lpstr>Generación de la respuesta con Qwen</vt:lpstr>
      <vt:lpstr>Validación de la respuesta generada</vt:lpstr>
      <vt:lpstr>Detección básica de alucinaciones</vt:lpstr>
      <vt:lpstr>Evaluación del grounding de la respuesta</vt:lpstr>
      <vt:lpstr>Evaluación automática de la respuesta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Franco Zeta</dc:creator>
  <cp:lastModifiedBy>Marcelo Arrunategui Zeta</cp:lastModifiedBy>
  <cp:revision>6</cp:revision>
  <dcterms:modified xsi:type="dcterms:W3CDTF">2026-03-12T00:15:25Z</dcterms:modified>
</cp:coreProperties>
</file>